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9D9CD73-61B5-41AC-B0C0-64FF48FE7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3E9C3F8-975B-4EAD-B042-B4D85C7901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CB3AA-9005-479E-A6FA-87E73F974C57}" type="datetimeFigureOut">
              <a:rPr lang="fr-MA" smtClean="0"/>
              <a:t>24/04/2026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CEEFB7-3C80-417E-A59E-158AE8568A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950BA3-C417-4957-8A08-300B065595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3DBC5-5417-478F-8079-947578BDE65E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51658457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35878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5486400" cy="5486400"/>
          </a:xfrm>
          <a:prstGeom prst="ellipse">
            <a:avLst/>
          </a:prstGeom>
          <a:solidFill>
            <a:srgbClr val="3E92C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6890" y="1272845"/>
            <a:ext cx="73152" cy="1371600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5" name="Text 3"/>
          <p:cNvSpPr/>
          <p:nvPr/>
        </p:nvSpPr>
        <p:spPr>
          <a:xfrm>
            <a:off x="1036930" y="1272159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GI22  ADMINISTRATION SYSTÈME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6930" y="2179105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 d'un site web avec Apache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36930" y="1660729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 err="1">
                <a:solidFill>
                  <a:srgbClr val="3E92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</a:t>
            </a:r>
            <a:r>
              <a:rPr lang="en-US" sz="2600" i="1" dirty="0">
                <a:solidFill>
                  <a:srgbClr val="3E92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 GitHub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GI22 ·  Administration Système  ·  2025-2026</a:t>
            </a:r>
            <a:endParaRPr lang="en-US" sz="1100" dirty="0"/>
          </a:p>
        </p:txBody>
      </p:sp>
      <p:sp>
        <p:nvSpPr>
          <p:cNvPr id="13" name="ZoneTexte 12"/>
          <p:cNvSpPr txBox="1"/>
          <p:nvPr/>
        </p:nvSpPr>
        <p:spPr>
          <a:xfrm>
            <a:off x="5621731" y="3879899"/>
            <a:ext cx="2472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Nana Aichatou</a:t>
            </a:r>
          </a:p>
          <a:p>
            <a:r>
              <a:rPr lang="fr-FR" dirty="0">
                <a:solidFill>
                  <a:schemeClr val="bg2"/>
                </a:solidFill>
              </a:rPr>
              <a:t>Meryem Chalh</a:t>
            </a:r>
          </a:p>
          <a:p>
            <a:r>
              <a:rPr lang="fr-FR" dirty="0">
                <a:solidFill>
                  <a:schemeClr val="bg2"/>
                </a:solidFill>
              </a:rPr>
              <a:t>Khadija </a:t>
            </a:r>
            <a:r>
              <a:rPr lang="fr-FR" dirty="0" err="1">
                <a:solidFill>
                  <a:schemeClr val="bg2"/>
                </a:solidFill>
              </a:rPr>
              <a:t>Benchaouafa</a:t>
            </a:r>
            <a:endParaRPr lang="fr-FR" dirty="0">
              <a:solidFill>
                <a:schemeClr val="bg2"/>
              </a:solidFill>
            </a:endParaRPr>
          </a:p>
          <a:p>
            <a:r>
              <a:rPr lang="fr-FR" dirty="0">
                <a:solidFill>
                  <a:schemeClr val="bg2"/>
                </a:solidFill>
              </a:rPr>
              <a:t>Noura Ajarra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46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2834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&amp; GitHub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365760" cy="27432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VCS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Git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3931920" cy="283464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737360"/>
            <a:ext cx="3931920" cy="73152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 Apache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120640" y="2926080"/>
            <a:ext cx="365760" cy="27432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154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du serveur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4564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3456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Host personnalisé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375818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758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UFW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405993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final 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5486400" cy="5486400"/>
          </a:xfrm>
          <a:prstGeom prst="ellipse">
            <a:avLst/>
          </a:prstGeom>
          <a:solidFill>
            <a:srgbClr val="3E92C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73152" cy="1097280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&amp; GitHub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de contrôle de version moderne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46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que Git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de contrôle de version (VCS) distribué, libre et gratuit, créé en 2005 par Linus Torvalds.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011680"/>
            <a:ext cx="265176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011680"/>
            <a:ext cx="73152" cy="22860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Locaux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utilisateur.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locaux uniquement.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011680"/>
            <a:ext cx="265176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011680"/>
            <a:ext cx="73152" cy="2286000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Centralisés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SVN, CVS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unique.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faille unique.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011680"/>
            <a:ext cx="2651760" cy="22860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011680"/>
            <a:ext cx="73152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Distribués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développeur a une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complète de l'historique.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46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cycle Git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fichier de travail au dépôt : les quatre étapes essentielles.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343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" y="3063240"/>
            <a:ext cx="274320" cy="36576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9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 file.md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espace de travail local.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8318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8318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83180" y="3063240"/>
            <a:ext cx="274320" cy="36576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5" name="Text 13"/>
          <p:cNvSpPr/>
          <p:nvPr/>
        </p:nvSpPr>
        <p:spPr>
          <a:xfrm>
            <a:off x="258318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9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8318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fichiers.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3202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73202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32020" y="3063240"/>
            <a:ext cx="274320" cy="36576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21" name="Text 19"/>
          <p:cNvSpPr/>
          <p:nvPr/>
        </p:nvSpPr>
        <p:spPr>
          <a:xfrm>
            <a:off x="47320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9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202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d'une version.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8086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68808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80860" y="3063240"/>
            <a:ext cx="274320" cy="36576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27" name="Text 25"/>
          <p:cNvSpPr/>
          <p:nvPr/>
        </p:nvSpPr>
        <p:spPr>
          <a:xfrm>
            <a:off x="688086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9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8086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dans le dépôt.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46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vs GitHub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outils complémentaires, souvent confondus.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560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local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457200" cy="27432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08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installé sur votre machine.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l'historique et les versions en local.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hors ligne.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28800"/>
            <a:ext cx="3931920" cy="73152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120640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cloud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971800"/>
            <a:ext cx="457200" cy="27432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108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d'hébergement de dépôts Git.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le partage et la collaboration.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: GitLab, Bitbucket.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· push · pull · fetch — les commandes qui relient les deux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5486400" cy="5486400"/>
          </a:xfrm>
          <a:prstGeom prst="ellipse">
            <a:avLst/>
          </a:prstGeom>
          <a:solidFill>
            <a:srgbClr val="3E92C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73152" cy="1097280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 Apache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46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Répartition des rôles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mené à 4, chacune avec une responsabilité bien définie.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132588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</a:rPr>
              <a:t>Nana-</a:t>
            </a:r>
            <a:r>
              <a:rPr lang="en-US" sz="1600" b="1" dirty="0" err="1">
                <a:solidFill>
                  <a:srgbClr val="1E2761"/>
                </a:solidFill>
                <a:latin typeface="Georgia" pitchFamily="34" charset="0"/>
              </a:rPr>
              <a:t>Aichatou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Administratrice système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365760" cy="27432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16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configuration d'Apache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4023360" cy="132588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828800"/>
            <a:ext cx="73152" cy="1325880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2103120"/>
            <a:ext cx="548640" cy="54864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2356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Meryem</a:t>
            </a: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356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configuration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743200"/>
            <a:ext cx="365760" cy="27432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816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Host &amp; fichier hosts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4023360" cy="132588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37560"/>
            <a:ext cx="7315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611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Noura Ajarra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Développeuse front-end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251960"/>
            <a:ext cx="365760" cy="27432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25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page HTML/CSS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3351276"/>
            <a:ext cx="4023360" cy="132588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337560"/>
            <a:ext cx="73152" cy="1325880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611880"/>
            <a:ext cx="548640" cy="54864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2356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Khadija </a:t>
            </a:r>
            <a:r>
              <a:rPr lang="en-US" sz="16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Benchaouafa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23560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sécurité &amp; Git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4251960"/>
            <a:ext cx="365760" cy="27432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325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UFW, dépôt GitHub &amp; documentation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2"/>
          <p:cNvSpPr/>
          <p:nvPr/>
        </p:nvSpPr>
        <p:spPr>
          <a:xfrm>
            <a:off x="354356" y="322573"/>
            <a:ext cx="8229600" cy="52014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4"/>
          <p:cNvSpPr/>
          <p:nvPr/>
        </p:nvSpPr>
        <p:spPr>
          <a:xfrm>
            <a:off x="491516" y="398821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dirty="0">
                <a:solidFill>
                  <a:srgbClr val="1E2761"/>
                </a:solidFill>
                <a:latin typeface="Calibri" pitchFamily="34" charset="0"/>
              </a:rPr>
              <a:t>Stratégie choisie : </a:t>
            </a:r>
            <a:r>
              <a:rPr lang="fr-FR" sz="1600" b="1" dirty="0">
                <a:solidFill>
                  <a:srgbClr val="3E92CC"/>
                </a:solidFill>
                <a:latin typeface="Calibri" pitchFamily="34" charset="0"/>
              </a:rPr>
              <a:t>Big Bang Deployment</a:t>
            </a:r>
            <a:r>
              <a:rPr lang="fr-FR" sz="1600" dirty="0">
                <a:solidFill>
                  <a:srgbClr val="1A1A2E"/>
                </a:solidFill>
                <a:latin typeface="Calibri" pitchFamily="34" charset="0"/>
              </a:rPr>
              <a:t>  —  déploiement en une seule fois, simple et rapide</a:t>
            </a:r>
            <a:r>
              <a:rPr lang="fr-FR" sz="1200" dirty="0">
                <a:solidFill>
                  <a:srgbClr val="1A1A2E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30" name="TitleMain"/>
          <p:cNvSpPr/>
          <p:nvPr/>
        </p:nvSpPr>
        <p:spPr>
          <a:xfrm>
            <a:off x="457200" y="-64555"/>
            <a:ext cx="8229600" cy="6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endParaRPr lang="fr-FR" sz="3200" b="1" dirty="0">
              <a:solidFill>
                <a:srgbClr val="1E2761"/>
              </a:solidFill>
              <a:latin typeface="Georgia" pitchFamily="18" charset="0"/>
            </a:endParaRPr>
          </a:p>
        </p:txBody>
      </p:sp>
      <p:sp>
        <p:nvSpPr>
          <p:cNvPr id="31" name="Subtitle"/>
          <p:cNvSpPr/>
          <p:nvPr/>
        </p:nvSpPr>
        <p:spPr>
          <a:xfrm>
            <a:off x="354356" y="1298480"/>
            <a:ext cx="8079475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fr-FR" i="1" dirty="0">
                <a:solidFill>
                  <a:srgbClr val="64748B"/>
                </a:solidFill>
                <a:latin typeface="Calibri" pitchFamily="34" charset="0"/>
              </a:rPr>
              <a:t>Un site statique : le Big Bang est le bon choix.</a:t>
            </a:r>
          </a:p>
        </p:txBody>
      </p:sp>
      <p:sp>
        <p:nvSpPr>
          <p:cNvPr id="40" name="Card1Bar"/>
          <p:cNvSpPr/>
          <p:nvPr/>
        </p:nvSpPr>
        <p:spPr>
          <a:xfrm>
            <a:off x="457200" y="2450000"/>
            <a:ext cx="60000" cy="2100000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41" name="Card1BG"/>
          <p:cNvSpPr/>
          <p:nvPr/>
        </p:nvSpPr>
        <p:spPr>
          <a:xfrm>
            <a:off x="491516" y="2450000"/>
            <a:ext cx="2580000" cy="2100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MA" dirty="0"/>
          </a:p>
        </p:txBody>
      </p:sp>
      <p:sp>
        <p:nvSpPr>
          <p:cNvPr id="42" name="Card1Title"/>
          <p:cNvSpPr/>
          <p:nvPr/>
        </p:nvSpPr>
        <p:spPr>
          <a:xfrm>
            <a:off x="700000" y="2600000"/>
            <a:ext cx="2300000" cy="5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fr-FR" sz="1000" b="1" spc="200" dirty="0">
                <a:solidFill>
                  <a:srgbClr val="3E92CC"/>
                </a:solidFill>
                <a:latin typeface="Calibri" pitchFamily="34" charset="0"/>
              </a:rPr>
              <a:t>AVANTAGES</a:t>
            </a:r>
          </a:p>
          <a:p>
            <a:pPr marL="0" indent="0" algn="l">
              <a:buNone/>
            </a:pPr>
            <a:endParaRPr lang="fr-FR" sz="600" dirty="0"/>
          </a:p>
          <a:p>
            <a:pPr marL="0" indent="0" algn="l">
              <a:buNone/>
            </a:pPr>
            <a:r>
              <a:rPr lang="fr-FR" sz="1800" b="1" dirty="0">
                <a:solidFill>
                  <a:srgbClr val="1E2761"/>
                </a:solidFill>
                <a:latin typeface="Georgia" pitchFamily="18" charset="0"/>
              </a:rPr>
              <a:t>Simple &amp; rapide</a:t>
            </a:r>
          </a:p>
        </p:txBody>
      </p:sp>
      <p:sp>
        <p:nvSpPr>
          <p:cNvPr id="43" name="Card1Body"/>
          <p:cNvSpPr/>
          <p:nvPr/>
        </p:nvSpPr>
        <p:spPr>
          <a:xfrm>
            <a:off x="700000" y="3350000"/>
            <a:ext cx="2300000" cy="11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fr-FR" sz="1200" dirty="0">
                <a:solidFill>
                  <a:srgbClr val="1A1A2E"/>
                </a:solidFill>
                <a:latin typeface="Calibri" pitchFamily="34" charset="0"/>
              </a:rPr>
              <a:t>Une seule mise en production.</a:t>
            </a:r>
          </a:p>
          <a:p>
            <a:pPr marL="0" indent="0" algn="l">
              <a:buNone/>
            </a:pPr>
            <a:endParaRPr lang="fr-FR" sz="600" dirty="0"/>
          </a:p>
          <a:p>
            <a:pPr marL="0" indent="0" algn="l">
              <a:buNone/>
            </a:pPr>
            <a:r>
              <a:rPr lang="fr-FR" sz="1200" dirty="0">
                <a:solidFill>
                  <a:srgbClr val="1A1A2E"/>
                </a:solidFill>
                <a:latin typeface="Calibri" pitchFamily="34" charset="0"/>
              </a:rPr>
              <a:t>Pas de coordination complexe entre versions.</a:t>
            </a:r>
          </a:p>
        </p:txBody>
      </p:sp>
      <p:sp>
        <p:nvSpPr>
          <p:cNvPr id="50" name="Card2Bar"/>
          <p:cNvSpPr/>
          <p:nvPr/>
        </p:nvSpPr>
        <p:spPr>
          <a:xfrm>
            <a:off x="3300000" y="2450000"/>
            <a:ext cx="60000" cy="2100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1" name="Card2BG"/>
          <p:cNvSpPr/>
          <p:nvPr/>
        </p:nvSpPr>
        <p:spPr>
          <a:xfrm>
            <a:off x="3360000" y="2450000"/>
            <a:ext cx="2580000" cy="210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Card2Title"/>
          <p:cNvSpPr/>
          <p:nvPr/>
        </p:nvSpPr>
        <p:spPr>
          <a:xfrm>
            <a:off x="3540000" y="2600000"/>
            <a:ext cx="2300000" cy="5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fr-FR" sz="1000" b="1" spc="200" dirty="0">
                <a:solidFill>
                  <a:srgbClr val="1E2761"/>
                </a:solidFill>
                <a:latin typeface="Calibri" pitchFamily="34" charset="0"/>
              </a:rPr>
              <a:t>À NOTER</a:t>
            </a:r>
          </a:p>
          <a:p>
            <a:pPr marL="0" indent="0" algn="l">
              <a:buNone/>
            </a:pPr>
            <a:endParaRPr lang="fr-FR" sz="600" dirty="0"/>
          </a:p>
          <a:p>
            <a:pPr marL="0" indent="0" algn="l">
              <a:buNone/>
            </a:pPr>
            <a:r>
              <a:rPr lang="fr-FR" sz="1800" b="1" dirty="0">
                <a:solidFill>
                  <a:srgbClr val="1E2761"/>
                </a:solidFill>
                <a:latin typeface="Georgia" pitchFamily="18" charset="0"/>
              </a:rPr>
              <a:t>Limites</a:t>
            </a:r>
          </a:p>
        </p:txBody>
      </p:sp>
      <p:sp>
        <p:nvSpPr>
          <p:cNvPr id="53" name="Card2Body"/>
          <p:cNvSpPr/>
          <p:nvPr/>
        </p:nvSpPr>
        <p:spPr>
          <a:xfrm>
            <a:off x="3540000" y="3350000"/>
            <a:ext cx="2300000" cy="11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fr-FR" sz="1200" dirty="0">
                <a:solidFill>
                  <a:srgbClr val="1A1A2E"/>
                </a:solidFill>
                <a:latin typeface="Calibri" pitchFamily="34" charset="0"/>
              </a:rPr>
              <a:t>Un bug impacte tout le site en même temps.</a:t>
            </a:r>
          </a:p>
          <a:p>
            <a:pPr marL="0" indent="0" algn="l">
              <a:buNone/>
            </a:pPr>
            <a:endParaRPr lang="fr-FR" sz="600" dirty="0"/>
          </a:p>
          <a:p>
            <a:pPr marL="0" indent="0" algn="l">
              <a:buNone/>
            </a:pPr>
            <a:r>
              <a:rPr lang="fr-FR" sz="1200" dirty="0">
                <a:solidFill>
                  <a:srgbClr val="1A1A2E"/>
                </a:solidFill>
                <a:latin typeface="Calibri" pitchFamily="34" charset="0"/>
              </a:rPr>
              <a:t>Peu adapté aux grandes applications en production.</a:t>
            </a:r>
          </a:p>
        </p:txBody>
      </p:sp>
      <p:sp>
        <p:nvSpPr>
          <p:cNvPr id="60" name="Card3Bar"/>
          <p:cNvSpPr/>
          <p:nvPr/>
        </p:nvSpPr>
        <p:spPr>
          <a:xfrm>
            <a:off x="6140000" y="2450000"/>
            <a:ext cx="60000" cy="2100000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61" name="Card3BG"/>
          <p:cNvSpPr/>
          <p:nvPr/>
        </p:nvSpPr>
        <p:spPr>
          <a:xfrm>
            <a:off x="6200000" y="2450000"/>
            <a:ext cx="2580000" cy="2100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2" name="Card3Title"/>
          <p:cNvSpPr/>
          <p:nvPr/>
        </p:nvSpPr>
        <p:spPr>
          <a:xfrm>
            <a:off x="6380000" y="2600000"/>
            <a:ext cx="2300000" cy="5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fr-FR" sz="1000" b="1" spc="200" dirty="0">
                <a:solidFill>
                  <a:srgbClr val="3E92CC"/>
                </a:solidFill>
                <a:latin typeface="Calibri" pitchFamily="34" charset="0"/>
              </a:rPr>
              <a:t>NOTRE CONTEXTE</a:t>
            </a:r>
          </a:p>
          <a:p>
            <a:pPr marL="0" indent="0" algn="l">
              <a:buNone/>
            </a:pPr>
            <a:endParaRPr lang="fr-FR" sz="600" dirty="0"/>
          </a:p>
          <a:p>
            <a:pPr marL="0" indent="0" algn="l">
              <a:buNone/>
            </a:pPr>
            <a:r>
              <a:rPr lang="fr-FR" sz="1600" b="1" dirty="0">
                <a:solidFill>
                  <a:srgbClr val="FFFFFF"/>
                </a:solidFill>
                <a:latin typeface="Georgia" pitchFamily="18" charset="0"/>
              </a:rPr>
              <a:t>Projet pédagogique</a:t>
            </a:r>
          </a:p>
        </p:txBody>
      </p:sp>
      <p:sp>
        <p:nvSpPr>
          <p:cNvPr id="63" name="Card3Body"/>
          <p:cNvSpPr/>
          <p:nvPr/>
        </p:nvSpPr>
        <p:spPr>
          <a:xfrm>
            <a:off x="6380000" y="3400000"/>
            <a:ext cx="2300000" cy="1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fr-FR" sz="1200" dirty="0">
                <a:solidFill>
                  <a:srgbClr val="CADCFC"/>
                </a:solidFill>
                <a:latin typeface="Calibri" pitchFamily="34" charset="0"/>
              </a:rPr>
              <a:t>Site vitrine statique, hébergé localement.</a:t>
            </a:r>
          </a:p>
          <a:p>
            <a:pPr marL="0" indent="0" algn="l">
              <a:buNone/>
            </a:pPr>
            <a:endParaRPr lang="fr-FR" sz="600" dirty="0"/>
          </a:p>
        </p:txBody>
      </p:sp>
      <p:sp>
        <p:nvSpPr>
          <p:cNvPr id="70" name="BottomQuote"/>
          <p:cNvSpPr/>
          <p:nvPr/>
        </p:nvSpPr>
        <p:spPr>
          <a:xfrm>
            <a:off x="457200" y="4750000"/>
            <a:ext cx="82296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1200" i="1" dirty="0">
                <a:solidFill>
                  <a:srgbClr val="64748B"/>
                </a:solidFill>
                <a:latin typeface="Calibri" pitchFamily="34" charset="0"/>
              </a:rPr>
              <a:t>Déploiement en une seule fois → mise en ligne immédiate du site complet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46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63040" y="2971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 d'Apache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95785" y="93582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du serveur Apache et vérification que le service tourne correctement.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23284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apt update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apt upgrade -y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apt install apache2 </a:t>
            </a:r>
            <a:endParaRPr lang="en-US" sz="1400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apache2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3" name="Image 0" descr="images/01_apache_statu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978" y="1482420"/>
            <a:ext cx="5149702" cy="2560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116289" y="43434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Capture : statut apache2 — active (running)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5720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(running)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2975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Vérification de la page par défaut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1041" y="1304787"/>
            <a:ext cx="21213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du </a:t>
            </a:r>
            <a:r>
              <a:rPr lang="en-US" sz="1600" i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51041" y="1909686"/>
            <a:ext cx="34885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URL </a:t>
            </a:r>
            <a:r>
              <a:rPr lang="en-US" sz="1600" kern="0" spc="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testée</a:t>
            </a:r>
            <a:r>
              <a:rPr lang="en-US" sz="1600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</a:t>
            </a:r>
            <a:endParaRPr lang="en-US" sz="16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1041" y="2288519"/>
            <a:ext cx="3488543" cy="896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La page par </a:t>
            </a:r>
            <a:r>
              <a:rPr lang="en-US" sz="1600" dirty="0" err="1"/>
              <a:t>défaut</a:t>
            </a:r>
            <a:r>
              <a:rPr lang="en-US" sz="1600" dirty="0"/>
              <a:t> d’Apache2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source: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/var/www/html/index.html</a:t>
            </a:r>
            <a:endParaRPr lang="en-US" sz="1400" dirty="0"/>
          </a:p>
        </p:txBody>
      </p:sp>
      <p:pic>
        <p:nvPicPr>
          <p:cNvPr id="12" name="Image 0" descr="images/02_default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807" y="1218852"/>
            <a:ext cx="4937760" cy="250266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96807" y="4028669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page Apache2 Default sur Ubuntu (VirtualBox)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46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 du Virtual Host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4632" y="11925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d'un hôte virtuel monsite.local pour héberger le site personnalisé.</a:t>
            </a: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Créer le fichier de conf + hosts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285" y="2215257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le dossier du site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mkdir /var/www/monsite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la conf du Virtual Host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</a:t>
            </a:r>
            <a:r>
              <a:rPr lang="en-US" sz="11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nano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/etc/apache2/sites-available/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monsite.conf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Ajouter dans /etc/hosts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/etc/hosts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Activer le site &amp; tester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162964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Activer le nouveau site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a2ensite monsite.conf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Désactiver le site par défaut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a2dissite 000-default.conf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Tester la config + recharger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apache2ctl configtest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reload apache2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556" y="4481269"/>
            <a:ext cx="822960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480560"/>
            <a:ext cx="54864" cy="320040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805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sera accessible via </a:t>
            </a:r>
            <a:r>
              <a:rPr lang="en-US" sz="1200" b="1" dirty="0">
                <a:solidFill>
                  <a:srgbClr val="3E9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http://monsite.local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46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Host activé et reconnu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commande apache2ctl -S confirme que monsite.local est bien pris en compte par Apache.</a:t>
            </a: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Image 0" descr="images/05_apache2ct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876" y="1727344"/>
            <a:ext cx="5943600" cy="22462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2077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sudo apache2ctl -S — monsite.local est bien listé comme default server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50876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65420" y="44811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www.monsite.local</a:t>
            </a:r>
            <a:endParaRPr lang="en-US" sz="1400" b="1" dirty="0"/>
          </a:p>
        </p:txBody>
      </p:sp>
      <p:sp>
        <p:nvSpPr>
          <p:cNvPr id="14" name="Text 11"/>
          <p:cNvSpPr/>
          <p:nvPr/>
        </p:nvSpPr>
        <p:spPr>
          <a:xfrm>
            <a:off x="571500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1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Rectangle 15"/>
          <p:cNvSpPr/>
          <p:nvPr/>
        </p:nvSpPr>
        <p:spPr>
          <a:xfrm>
            <a:off x="531310" y="4447103"/>
            <a:ext cx="13612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monsite.local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6035644" y="4497775"/>
            <a:ext cx="8329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Port 80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46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 du pare-feu UFW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d'UFW et ouverture des ports nécessaires (SSH, HTTP) pour sécuriser le serveur.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Autoriser SSH en premier !</a:t>
            </a:r>
            <a:endParaRPr lang="en-US" sz="14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allow OpenSSH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chemeClr val="accent3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Autoriser Apache (HTTP + HTTPS)</a:t>
            </a:r>
            <a:endParaRPr lang="en-US" sz="14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allow 'Apache Full'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chemeClr val="accent3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Activer UFW</a:t>
            </a:r>
            <a:endParaRPr lang="en-US" sz="14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enable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status verbose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62856" y="1621496"/>
            <a:ext cx="4178808" cy="2792048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images/04_ufw_statu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76360"/>
            <a:ext cx="4069080" cy="2682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17720" y="44318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ufw status verbose — pare-feu actif</a:t>
            </a: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4434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22/tcp  ·  SSH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828800" y="4434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80/tcp  ·  HTTP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0" y="4434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21  ·  FTP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246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déployé et fonctionnel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personnalisé répond à http://monsite.local — projet livré avec succès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" y="1728216"/>
            <a:ext cx="4315968" cy="2828694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7" name="Image 0" descr="images/03_site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4206240" cy="2718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57519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http://monsite.local — « Déploiement Réussi »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0" y="2203704"/>
            <a:ext cx="109728" cy="109728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1" name="Text 8"/>
          <p:cNvSpPr/>
          <p:nvPr/>
        </p:nvSpPr>
        <p:spPr>
          <a:xfrm>
            <a:off x="5230368" y="214884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30368" y="235000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HTTP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0" y="2660904"/>
            <a:ext cx="109728" cy="109728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4" name="Text 11"/>
          <p:cNvSpPr/>
          <p:nvPr/>
        </p:nvSpPr>
        <p:spPr>
          <a:xfrm>
            <a:off x="5230368" y="260604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Host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30368" y="280720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multi-sites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3118104"/>
            <a:ext cx="109728" cy="109728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17" name="Text 14"/>
          <p:cNvSpPr/>
          <p:nvPr/>
        </p:nvSpPr>
        <p:spPr>
          <a:xfrm>
            <a:off x="5230368" y="306324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30368" y="326440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3575304"/>
            <a:ext cx="109728" cy="109728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20" name="Text 17"/>
          <p:cNvSpPr/>
          <p:nvPr/>
        </p:nvSpPr>
        <p:spPr>
          <a:xfrm>
            <a:off x="5230368" y="352044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30368" y="372160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version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0" y="4032504"/>
            <a:ext cx="109728" cy="109728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23" name="Text 20"/>
          <p:cNvSpPr/>
          <p:nvPr/>
        </p:nvSpPr>
        <p:spPr>
          <a:xfrm>
            <a:off x="5230368" y="397764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30368" y="417880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3E92C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CADCFC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3152" cy="457200"/>
          </a:xfrm>
          <a:prstGeom prst="rect">
            <a:avLst/>
          </a:prstGeom>
          <a:solidFill>
            <a:srgbClr val="3E92C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livré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25780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2578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318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40580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64058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97980" y="2286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669798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4114800"/>
            <a:ext cx="2743200" cy="27432"/>
          </a:xfrm>
          <a:prstGeom prst="rect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853</Words>
  <Application>Microsoft Office PowerPoint</Application>
  <PresentationFormat>Affichage à l'écran (16:9)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Déploiement Apache avec Git &amp; GitHub</dc:title>
  <dc:subject>PptxGenJS Presentation</dc:subject>
  <dc:creator>Noura</dc:creator>
  <cp:lastModifiedBy>NANA-AICHATOU</cp:lastModifiedBy>
  <cp:revision>14</cp:revision>
  <dcterms:created xsi:type="dcterms:W3CDTF">2026-04-23T18:20:16Z</dcterms:created>
  <dcterms:modified xsi:type="dcterms:W3CDTF">2026-04-24T20:51:52Z</dcterms:modified>
</cp:coreProperties>
</file>